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3" r:id="rId3"/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WhatsApp Image 2026-10-03 at 1.57.33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54940"/>
            <a:ext cx="11542395" cy="176720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680210" y="2120900"/>
            <a:ext cx="7973060" cy="1075690"/>
          </a:xfrm>
          <a:prstGeom prst="rect">
            <a:avLst/>
          </a:prstGeom>
        </p:spPr>
        <p:txBody>
          <a:bodyPr>
            <a:noAutofit/>
          </a:bodyPr>
          <a:p>
            <a:r>
              <a:rPr sz="2400" b="1"/>
              <a:t>Department of Artificial Intelligence and Machine Learning</a:t>
            </a:r>
            <a:endParaRPr sz="2400" b="1"/>
          </a:p>
        </p:txBody>
      </p:sp>
      <p:sp>
        <p:nvSpPr>
          <p:cNvPr id="6" name="Text Box 5"/>
          <p:cNvSpPr txBox="1"/>
          <p:nvPr/>
        </p:nvSpPr>
        <p:spPr>
          <a:xfrm>
            <a:off x="1216660" y="3196590"/>
            <a:ext cx="6531610" cy="2431415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sz="2300"/>
              <a:t>GROUP PROJECT</a:t>
            </a:r>
            <a:r>
              <a:rPr lang="en-GB" sz="2300"/>
              <a:t>::</a:t>
            </a:r>
            <a:endParaRPr sz="2300"/>
          </a:p>
          <a:p>
            <a:pPr>
              <a:spcAft>
                <a:spcPct val="60000"/>
              </a:spcAft>
            </a:pPr>
            <a:r>
              <a:rPr sz="2800"/>
              <a:t>COLLEGE TIMETABLE GENERATOR</a:t>
            </a:r>
            <a:endParaRPr sz="2800"/>
          </a:p>
          <a:p>
            <a:r>
              <a:rPr sz="1600"/>
              <a:t>Technologies Used: Python, Flask, HTML, CSS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2804" y="-137160"/>
            <a:ext cx="12191695" cy="6858000"/>
          </a:xfrm>
          <a:prstGeom prst="rect">
            <a:avLst/>
          </a:prstGeom>
          <a:solidFill>
            <a:srgbClr val="F8FBFF"/>
          </a:solidFill>
          <a:ln>
            <a:solidFill>
              <a:srgbClr val="F8F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764"/>
          </a:solidFill>
          <a:ln>
            <a:solidFill>
              <a:srgbClr val="123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10972800" cy="72635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TIMETABLE GENERATOR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6583680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123764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scheduling. Fewer clashes.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2075688"/>
            <a:ext cx="6126480" cy="103412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23304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prototype that creates conflict-free class timetables from subjects, faculty, rooms, batches and availability.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46508" y="3198336"/>
            <a:ext cx="3383280" cy="117043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694943" y="3198336"/>
            <a:ext cx="109728" cy="1170432"/>
          </a:xfrm>
          <a:prstGeom prst="rect">
            <a:avLst/>
          </a:prstGeom>
          <a:solidFill>
            <a:srgbClr val="1973D2"/>
          </a:solidFill>
          <a:ln>
            <a:solidFill>
              <a:srgbClr val="19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4" y="3317922"/>
            <a:ext cx="299923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973D2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IDEA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 rot="10800000" flipV="1">
            <a:off x="905255" y="3643763"/>
            <a:ext cx="3163824" cy="75713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conflicts as a graph, choose feasible slots greedily, then use backtracking to resolve conflicts.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251960" y="3246120"/>
            <a:ext cx="338328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3246120"/>
            <a:ext cx="109728" cy="1170432"/>
          </a:xfrm>
          <a:prstGeom prst="rect">
            <a:avLst/>
          </a:prstGeom>
          <a:solidFill>
            <a:srgbClr val="6750BE"/>
          </a:solidFill>
          <a:ln>
            <a:solidFill>
              <a:srgbClr val="67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3383279"/>
            <a:ext cx="299923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6750BE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ALGORITHM-CENTRIC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71416" y="3767328"/>
            <a:ext cx="2999232" cy="75713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assignments, constraint checks and the reason behind each scheduling decision.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818120" y="3246120"/>
            <a:ext cx="361188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3246120"/>
            <a:ext cx="109728" cy="1170432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7576" y="3383279"/>
            <a:ext cx="322783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00968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STACK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37576" y="3767328"/>
            <a:ext cx="3227832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• Flask • HTML/CSS/JavaScript • SQLite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909560" y="1463040"/>
            <a:ext cx="333756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8D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09560" y="1463040"/>
            <a:ext cx="3337560" cy="320040"/>
          </a:xfrm>
          <a:prstGeom prst="rect">
            <a:avLst/>
          </a:prstGeom>
          <a:solidFill>
            <a:srgbClr val="1973D2"/>
          </a:solidFill>
          <a:ln>
            <a:solidFill>
              <a:srgbClr val="19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1583" y="1901952"/>
            <a:ext cx="475488" cy="164592"/>
          </a:xfrm>
          <a:prstGeom prst="rect">
            <a:avLst/>
          </a:prstGeom>
          <a:solidFill>
            <a:srgbClr val="E7F3FF"/>
          </a:solidFill>
          <a:ln>
            <a:solidFill>
              <a:srgbClr val="E7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95944" y="1901952"/>
            <a:ext cx="475488" cy="164592"/>
          </a:xfrm>
          <a:prstGeom prst="rect">
            <a:avLst/>
          </a:prstGeom>
          <a:solidFill>
            <a:srgbClr val="E5F8F2"/>
          </a:solidFill>
          <a:ln>
            <a:solidFill>
              <a:srgbClr val="E5F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90304" y="1901952"/>
            <a:ext cx="475488" cy="164592"/>
          </a:xfrm>
          <a:prstGeom prst="rect">
            <a:avLst/>
          </a:prstGeom>
          <a:solidFill>
            <a:srgbClr val="F1EDFF"/>
          </a:solidFill>
          <a:ln>
            <a:solidFill>
              <a:srgbClr val="F1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84663" y="1901952"/>
            <a:ext cx="475488" cy="164592"/>
          </a:xfrm>
          <a:prstGeom prst="rect">
            <a:avLst/>
          </a:prstGeom>
          <a:solidFill>
            <a:srgbClr val="FFF3E4"/>
          </a:solidFill>
          <a:ln>
            <a:solidFill>
              <a:srgbClr val="FF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479024" y="1901952"/>
            <a:ext cx="475488" cy="164592"/>
          </a:xfrm>
          <a:prstGeom prst="rect">
            <a:avLst/>
          </a:prstGeom>
          <a:solidFill>
            <a:srgbClr val="FFEDF0"/>
          </a:solidFill>
          <a:ln>
            <a:solidFill>
              <a:srgbClr val="FF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01583" y="2148840"/>
            <a:ext cx="475488" cy="164592"/>
          </a:xfrm>
          <a:prstGeom prst="rect">
            <a:avLst/>
          </a:prstGeom>
          <a:solidFill>
            <a:srgbClr val="E5F8F2"/>
          </a:solidFill>
          <a:ln>
            <a:solidFill>
              <a:srgbClr val="E5F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95944" y="2148840"/>
            <a:ext cx="475488" cy="164592"/>
          </a:xfrm>
          <a:prstGeom prst="rect">
            <a:avLst/>
          </a:prstGeom>
          <a:solidFill>
            <a:srgbClr val="F1EDFF"/>
          </a:solidFill>
          <a:ln>
            <a:solidFill>
              <a:srgbClr val="F1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90304" y="2148840"/>
            <a:ext cx="475488" cy="164592"/>
          </a:xfrm>
          <a:prstGeom prst="rect">
            <a:avLst/>
          </a:prstGeom>
          <a:solidFill>
            <a:srgbClr val="FFF3E4"/>
          </a:solidFill>
          <a:ln>
            <a:solidFill>
              <a:srgbClr val="FF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84663" y="2148840"/>
            <a:ext cx="475488" cy="164592"/>
          </a:xfrm>
          <a:prstGeom prst="rect">
            <a:avLst/>
          </a:prstGeom>
          <a:solidFill>
            <a:srgbClr val="FFEDF0"/>
          </a:solidFill>
          <a:ln>
            <a:solidFill>
              <a:srgbClr val="FF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479024" y="2148840"/>
            <a:ext cx="475488" cy="164592"/>
          </a:xfrm>
          <a:prstGeom prst="rect">
            <a:avLst/>
          </a:prstGeom>
          <a:solidFill>
            <a:srgbClr val="E7F3FF"/>
          </a:solidFill>
          <a:ln>
            <a:solidFill>
              <a:srgbClr val="E7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583" y="2395728"/>
            <a:ext cx="475488" cy="164592"/>
          </a:xfrm>
          <a:prstGeom prst="rect">
            <a:avLst/>
          </a:prstGeom>
          <a:solidFill>
            <a:srgbClr val="F1EDFF"/>
          </a:solidFill>
          <a:ln>
            <a:solidFill>
              <a:srgbClr val="F1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95944" y="2395728"/>
            <a:ext cx="475488" cy="164592"/>
          </a:xfrm>
          <a:prstGeom prst="rect">
            <a:avLst/>
          </a:prstGeom>
          <a:solidFill>
            <a:srgbClr val="FFF3E4"/>
          </a:solidFill>
          <a:ln>
            <a:solidFill>
              <a:srgbClr val="FF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90304" y="2395728"/>
            <a:ext cx="475488" cy="164592"/>
          </a:xfrm>
          <a:prstGeom prst="rect">
            <a:avLst/>
          </a:prstGeom>
          <a:solidFill>
            <a:srgbClr val="FFEDF0"/>
          </a:solidFill>
          <a:ln>
            <a:solidFill>
              <a:srgbClr val="FF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84663" y="2395728"/>
            <a:ext cx="475488" cy="164592"/>
          </a:xfrm>
          <a:prstGeom prst="rect">
            <a:avLst/>
          </a:prstGeom>
          <a:solidFill>
            <a:srgbClr val="E7F3FF"/>
          </a:solidFill>
          <a:ln>
            <a:solidFill>
              <a:srgbClr val="E7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479024" y="2395728"/>
            <a:ext cx="475488" cy="164592"/>
          </a:xfrm>
          <a:prstGeom prst="rect">
            <a:avLst/>
          </a:prstGeom>
          <a:solidFill>
            <a:srgbClr val="E5F8F2"/>
          </a:solidFill>
          <a:ln>
            <a:solidFill>
              <a:srgbClr val="E5F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892040"/>
            <a:ext cx="548640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973D2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85800" y="5230368"/>
            <a:ext cx="6217920" cy="65453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Lead: P.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Bhavana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Saihthi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Hasini, S. Gayathri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909560" y="4983480"/>
            <a:ext cx="3383280" cy="90075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23764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domain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400" b="1">
                <a:solidFill>
                  <a:srgbClr val="123764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• Resource scheduling • DAA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11480" y="6556248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576678"/>
                </a:solidFill>
                <a:latin typeface="Aptos"/>
              </a:defRPr>
            </a:pPr>
            <a:endParaRPr dirty="0"/>
          </a:p>
        </p:txBody>
      </p:sp>
      <p:sp>
        <p:nvSpPr>
          <p:cNvPr id="40" name="TextBox 39"/>
          <p:cNvSpPr txBox="1"/>
          <p:nvPr/>
        </p:nvSpPr>
        <p:spPr>
          <a:xfrm>
            <a:off x="11292840" y="6537960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576678"/>
                </a:solidFill>
                <a:latin typeface="Aptos"/>
              </a:defRPr>
            </a:pPr>
            <a:r>
              <a:t>1/7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3764"/>
          </a:solidFill>
          <a:ln>
            <a:solidFill>
              <a:srgbClr val="123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-7786"/>
            <a:ext cx="11247120" cy="66479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The Challenge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832104"/>
            <a:ext cx="1115568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57667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timetable generation is a constraint-satisfaction problem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56616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09728" cy="1874519"/>
          </a:xfrm>
          <a:prstGeom prst="rect">
            <a:avLst/>
          </a:prstGeom>
          <a:solidFill>
            <a:srgbClr val="DC4650"/>
          </a:solidFill>
          <a:ln>
            <a:solidFill>
              <a:srgbClr val="D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554480"/>
            <a:ext cx="318211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DC4650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PROBLEM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2376" y="1938528"/>
            <a:ext cx="3182112" cy="97257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weekly class schedules for multiple subjects, faculty members, rooms and student batches—without overlapping assignments.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15968" y="1417320"/>
            <a:ext cx="356616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417320"/>
            <a:ext cx="109728" cy="1874519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4791" y="1444752"/>
            <a:ext cx="318211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0968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35424" y="1760247"/>
            <a:ext cx="3182112" cy="155734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Prevents double-booked faculty and rooms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Avoids batch timetable overlaps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Uses available rooms and periods efficiently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manual planning effort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19872" y="1417320"/>
            <a:ext cx="356616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9872" y="1417320"/>
            <a:ext cx="109728" cy="1874519"/>
          </a:xfrm>
          <a:prstGeom prst="rect">
            <a:avLst/>
          </a:prstGeom>
          <a:solidFill>
            <a:srgbClr val="F08923"/>
          </a:solidFill>
          <a:ln>
            <a:solidFill>
              <a:srgbClr val="F08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554480"/>
            <a:ext cx="318211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08923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39328" y="1938528"/>
            <a:ext cx="3182112" cy="112646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Faculty availability and workload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Room availability and capacity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Student-batch conflicts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periods and competing priorities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" y="3767328"/>
            <a:ext cx="1097280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123764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valid timetable must satisfy all hard constraints: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0080" y="4297680"/>
            <a:ext cx="384048" cy="384048"/>
          </a:xfrm>
          <a:prstGeom prst="ellipse">
            <a:avLst/>
          </a:prstGeom>
          <a:solidFill>
            <a:srgbClr val="1973D2"/>
          </a:solidFill>
          <a:ln>
            <a:solidFill>
              <a:srgbClr val="19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48127"/>
            <a:ext cx="384048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43000" y="4288536"/>
            <a:ext cx="141732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973D2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79438" y="4239986"/>
            <a:ext cx="3566160" cy="60324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33041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faculty member cannot teach two classes at once.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309360" y="4297680"/>
            <a:ext cx="384048" cy="384048"/>
          </a:xfrm>
          <a:prstGeom prst="ellipse">
            <a:avLst/>
          </a:prstGeom>
          <a:solidFill>
            <a:srgbClr val="6750BE"/>
          </a:solidFill>
          <a:ln>
            <a:solidFill>
              <a:srgbClr val="67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348127"/>
            <a:ext cx="384048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12280" y="4288536"/>
            <a:ext cx="141732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6750BE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25535" y="4162806"/>
            <a:ext cx="3566160" cy="60324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33041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room can host only one class per period.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40080" y="5102352"/>
            <a:ext cx="384048" cy="384048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111496"/>
            <a:ext cx="384048" cy="36575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/>
              <a:t>3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1143000" y="5093208"/>
            <a:ext cx="141732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968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68880" y="5093208"/>
            <a:ext cx="3566160" cy="60324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33041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student batch cannot attend two classes at once.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309360" y="5102352"/>
            <a:ext cx="384048" cy="384048"/>
          </a:xfrm>
          <a:prstGeom prst="ellipse">
            <a:avLst/>
          </a:prstGeom>
          <a:solidFill>
            <a:srgbClr val="F08923"/>
          </a:solidFill>
          <a:ln>
            <a:solidFill>
              <a:srgbClr val="F08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5152799"/>
            <a:ext cx="384048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12279" y="5097146"/>
            <a:ext cx="1615283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F08923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625840" y="4928878"/>
            <a:ext cx="3566160" cy="60324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33041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Assignments must fit the supplied availability.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292840" y="6537960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576678"/>
                </a:solidFill>
                <a:latin typeface="Aptos"/>
              </a:defRPr>
            </a:pPr>
            <a:r>
              <a:t>2/7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3764"/>
          </a:solidFill>
          <a:ln>
            <a:solidFill>
              <a:srgbClr val="123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2991"/>
            <a:ext cx="11247120" cy="60324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Our Innovation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832104"/>
            <a:ext cx="1115568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57667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transparent algorithm pipeline—not just a timetable result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325880"/>
            <a:ext cx="539496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109728" cy="1261872"/>
          </a:xfrm>
          <a:prstGeom prst="rect">
            <a:avLst/>
          </a:prstGeom>
          <a:solidFill>
            <a:srgbClr val="1973D2"/>
          </a:solidFill>
          <a:ln>
            <a:solidFill>
              <a:srgbClr val="19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463039"/>
            <a:ext cx="501091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973D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CONFLICT GRAPH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6384" y="1847088"/>
            <a:ext cx="5010912" cy="75713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class session is a vertex. An edge connects two sessions that share a faculty member or batch; room overlap is checked during assignment.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39496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109728" cy="1261872"/>
          </a:xfrm>
          <a:prstGeom prst="rect">
            <a:avLst/>
          </a:prstGeom>
          <a:solidFill>
            <a:srgbClr val="F08923"/>
          </a:solidFill>
          <a:ln>
            <a:solidFill>
              <a:srgbClr val="F08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444752"/>
            <a:ext cx="501091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08923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GREEDY FIRST CHOICE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37376" y="1847088"/>
            <a:ext cx="5010912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the most constrained sessions first, then choose the earliest feasible period and a suitable available room.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6928" y="2834640"/>
            <a:ext cx="539496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834640"/>
            <a:ext cx="109728" cy="1261872"/>
          </a:xfrm>
          <a:prstGeom prst="rect">
            <a:avLst/>
          </a:prstGeom>
          <a:solidFill>
            <a:srgbClr val="6750BE"/>
          </a:solidFill>
          <a:ln>
            <a:solidFill>
              <a:srgbClr val="67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971800"/>
            <a:ext cx="501091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6750B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BACKTRACKING RECOVERY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6384" y="3355848"/>
            <a:ext cx="5010912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choice blocks later sessions, undo that assignment and try another valid period or room.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2834640"/>
            <a:ext cx="539496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834640"/>
            <a:ext cx="109728" cy="1261872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2971800"/>
            <a:ext cx="501091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0968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  EXPLAINABLE OUTPUT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37376" y="3355848"/>
            <a:ext cx="5010912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the final timetable, constraint checks, attempted assignments and backtracking steps so users can follow the decisions.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10789920" cy="4031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23764"/>
                </a:solidFill>
                <a:latin typeface="Aptos"/>
              </a:defRPr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2000" y="5047488"/>
            <a:ext cx="178418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973D2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50976" y="5047488"/>
            <a:ext cx="491947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 for subjects, faculty, rooms, batches and availability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9808" y="5367527"/>
            <a:ext cx="201168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973D2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5367527"/>
            <a:ext cx="491947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Conflict checks before every assignment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9808" y="5687568"/>
            <a:ext cx="201168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973D2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5687568"/>
            <a:ext cx="491947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Readable timetable with an explanation log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17920" y="5047488"/>
            <a:ext cx="201168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968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8530" y="5074920"/>
            <a:ext cx="501091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constraints are never intentionally violated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17920" y="5367527"/>
            <a:ext cx="201168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968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5367527"/>
            <a:ext cx="501091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message when no valid schedule is found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17920" y="5687568"/>
            <a:ext cx="201168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9688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5687568"/>
            <a:ext cx="501091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future priorities and optimization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292840" y="6537960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576678"/>
                </a:solidFill>
                <a:latin typeface="Aptos"/>
              </a:defRPr>
            </a:pPr>
            <a:r>
              <a:t>3/7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3764"/>
          </a:solidFill>
          <a:ln>
            <a:solidFill>
              <a:srgbClr val="123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-7786"/>
            <a:ext cx="11247120" cy="66479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How It Works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832104"/>
            <a:ext cx="1115568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576678"/>
                </a:solidFill>
                <a:latin typeface="Aptos"/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Input → model → schedule search → conflict-free output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2395728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1325880"/>
            <a:ext cx="822960" cy="822960"/>
          </a:xfrm>
          <a:prstGeom prst="ellipse">
            <a:avLst/>
          </a:prstGeom>
          <a:solidFill>
            <a:srgbClr val="1973D2"/>
          </a:solidFill>
          <a:ln>
            <a:solidFill>
              <a:srgbClr val="19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335024"/>
            <a:ext cx="822960" cy="8046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331720"/>
            <a:ext cx="2066543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973D2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2887" y="2670209"/>
            <a:ext cx="1907137" cy="139320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Batches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2953512" y="2743200"/>
            <a:ext cx="402336" cy="0"/>
          </a:xfrm>
          <a:prstGeom prst="line">
            <a:avLst/>
          </a:prstGeom>
          <a:ln w="25400">
            <a:solidFill>
              <a:srgbClr val="57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29000" y="1691640"/>
            <a:ext cx="2395728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06240" y="1325880"/>
            <a:ext cx="822960" cy="822960"/>
          </a:xfrm>
          <a:prstGeom prst="ellipse">
            <a:avLst/>
          </a:prstGeom>
          <a:solidFill>
            <a:srgbClr val="6750BE"/>
          </a:solidFill>
          <a:ln>
            <a:solidFill>
              <a:srgbClr val="67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335024"/>
            <a:ext cx="822960" cy="8046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331720"/>
            <a:ext cx="2066543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6750B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30168" y="2761488"/>
            <a:ext cx="1993392" cy="85972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data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sessions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conflict graph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5879592" y="2743200"/>
            <a:ext cx="402336" cy="0"/>
          </a:xfrm>
          <a:prstGeom prst="line">
            <a:avLst/>
          </a:prstGeom>
          <a:ln w="25400">
            <a:solidFill>
              <a:srgbClr val="57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55080" y="1691640"/>
            <a:ext cx="2395728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32320" y="1325880"/>
            <a:ext cx="822960" cy="822960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1335024"/>
            <a:ext cx="822960" cy="8046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331720"/>
            <a:ext cx="2066543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00968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56248" y="2761488"/>
            <a:ext cx="1993392" cy="85972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 ordering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feasible slots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 if stuck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8805672" y="2743200"/>
            <a:ext cx="402336" cy="0"/>
          </a:xfrm>
          <a:prstGeom prst="line">
            <a:avLst/>
          </a:prstGeom>
          <a:ln w="25400">
            <a:solidFill>
              <a:srgbClr val="5766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281160" y="1691640"/>
            <a:ext cx="2395728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0" y="1325880"/>
            <a:ext cx="822960" cy="822960"/>
          </a:xfrm>
          <a:prstGeom prst="ellipse">
            <a:avLst/>
          </a:prstGeom>
          <a:solidFill>
            <a:srgbClr val="F08923"/>
          </a:solidFill>
          <a:ln>
            <a:solidFill>
              <a:srgbClr val="F08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1335024"/>
            <a:ext cx="822960" cy="8046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5752" y="2331720"/>
            <a:ext cx="2066543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08923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482328" y="2761488"/>
            <a:ext cx="1993392" cy="85972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timetable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Conflict report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log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1792" y="4316992"/>
            <a:ext cx="10972800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23764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 user sees during generation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85800" y="4956048"/>
            <a:ext cx="34290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956048"/>
            <a:ext cx="109728" cy="960120"/>
          </a:xfrm>
          <a:prstGeom prst="rect">
            <a:avLst/>
          </a:prstGeom>
          <a:solidFill>
            <a:srgbClr val="1973D2"/>
          </a:solidFill>
          <a:ln>
            <a:solidFill>
              <a:srgbClr val="19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5093208"/>
            <a:ext cx="304495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973D2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TRACE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05256" y="5477256"/>
            <a:ext cx="3044952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“DBMS → Mon 9:00 → Room R101”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370832" y="4956048"/>
            <a:ext cx="34290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70832" y="4956048"/>
            <a:ext cx="109728" cy="96012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90288" y="5093208"/>
            <a:ext cx="304495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00968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 CHECK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590288" y="5477256"/>
            <a:ext cx="3044952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Faculty, room and batch are free.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046720" y="4956048"/>
            <a:ext cx="34290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6720" y="4956048"/>
            <a:ext cx="109728" cy="960120"/>
          </a:xfrm>
          <a:prstGeom prst="rect">
            <a:avLst/>
          </a:prstGeom>
          <a:solidFill>
            <a:srgbClr val="6750BE"/>
          </a:solidFill>
          <a:ln>
            <a:solidFill>
              <a:srgbClr val="67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66176" y="5093208"/>
            <a:ext cx="304495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6750BE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UNDO / RETRY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266176" y="5477256"/>
            <a:ext cx="3044952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blocked, remove choice and test next slot.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1292840" y="6537960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576678"/>
                </a:solidFill>
                <a:latin typeface="Aptos"/>
              </a:defRPr>
            </a:pPr>
            <a:r>
              <a:t>4/7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3764"/>
          </a:solidFill>
          <a:ln>
            <a:solidFill>
              <a:srgbClr val="123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-7786"/>
            <a:ext cx="11247120" cy="66479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 Technology &amp; Algorithms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832104"/>
            <a:ext cx="1115568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57667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lightweight full-stack prototype with visible DAA concepts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298448"/>
            <a:ext cx="338328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09728" cy="1874519"/>
          </a:xfrm>
          <a:prstGeom prst="rect">
            <a:avLst/>
          </a:prstGeom>
          <a:solidFill>
            <a:srgbClr val="1973D2"/>
          </a:solidFill>
          <a:ln>
            <a:solidFill>
              <a:srgbClr val="19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435607"/>
            <a:ext cx="299923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973D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2376" y="1819655"/>
            <a:ext cx="2999232" cy="112646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— scheduling engine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— web routes and forms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HTML/CSS/JavaScript — interface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— saved entities and results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096512" y="1298448"/>
            <a:ext cx="3639312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96512" y="1298448"/>
            <a:ext cx="109728" cy="1874519"/>
          </a:xfrm>
          <a:prstGeom prst="rect">
            <a:avLst/>
          </a:prstGeom>
          <a:solidFill>
            <a:srgbClr val="6750BE"/>
          </a:solidFill>
          <a:ln>
            <a:solidFill>
              <a:srgbClr val="67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435607"/>
            <a:ext cx="3255264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6750B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ROLES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15968" y="1819655"/>
            <a:ext cx="3255264" cy="12906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Coloring: model time-slot conflicts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1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Greedy: select constrained sessions / quick initial choices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1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Backtracking: undo choices when later constraints fail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55279" y="1298448"/>
            <a:ext cx="37033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298448"/>
            <a:ext cx="109728" cy="1874519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1435607"/>
            <a:ext cx="331927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0968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74736" y="1819655"/>
            <a:ext cx="3319272" cy="112646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records and availability sets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Adjacency list for conflict graph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map: session → period / room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log for explainability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1792" y="3547872"/>
            <a:ext cx="1097280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23764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notes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0080" y="3977639"/>
          <a:ext cx="10357295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055"/>
                <a:gridCol w="3200400"/>
                <a:gridCol w="5577840"/>
              </a:tblGrid>
              <a:tr h="42291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73152" marT="36576" marB="27432">
                    <a:solidFill>
                      <a:srgbClr val="1237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Typical cost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73152" marT="36576" marB="27432">
                    <a:solidFill>
                      <a:srgbClr val="1237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Interpretation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73152" marT="36576" marB="27432">
                    <a:solidFill>
                      <a:srgbClr val="123764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 construction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73152" marT="36576" marB="27432">
                    <a:solidFill>
                      <a:srgbClr val="E7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O(V + E)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73152" marT="36576" marB="27432">
                    <a:solidFill>
                      <a:srgbClr val="E7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 vertices and conflict edges.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73152" marT="36576" marB="27432">
                    <a:solidFill>
                      <a:srgbClr val="E7F3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Greedy assignment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≈ O(V log V + checks)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heuristic; may need recovery.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Backtracking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73152" marT="36576" marB="27432">
                    <a:solidFill>
                      <a:srgbClr val="E7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Worst case exponential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73152" marT="36576" marB="27432">
                    <a:solidFill>
                      <a:srgbClr val="E7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Searches alternatives; pruning helps in practice.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73152" marT="36576" marB="27432">
                    <a:solidFill>
                      <a:srgbClr val="E7F3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85800" y="5833872"/>
            <a:ext cx="1078992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576678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actual runtime depends on the number of sessions, available slots and constraint density.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292840" y="6537960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576678"/>
                </a:solidFill>
                <a:latin typeface="Aptos"/>
              </a:defRPr>
            </a:pPr>
            <a:r>
              <a:t>5/7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3764"/>
          </a:solidFill>
          <a:ln>
            <a:solidFill>
              <a:srgbClr val="123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-7786"/>
            <a:ext cx="11247120" cy="66479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 Demo &amp; Impact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832104"/>
            <a:ext cx="1115568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57667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Illustrative demo data — replace with measured results from your running prototype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740664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7406640" cy="411480"/>
          </a:xfrm>
          <a:prstGeom prst="rect">
            <a:avLst/>
          </a:prstGeom>
          <a:solidFill>
            <a:srgbClr val="123764"/>
          </a:solidFill>
          <a:ln>
            <a:solidFill>
              <a:srgbClr val="123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26319"/>
            <a:ext cx="6949440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Timetable Generator  |  Generated Timetable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1325880" cy="393192"/>
          </a:xfrm>
          <a:prstGeom prst="rect">
            <a:avLst/>
          </a:prstGeom>
          <a:solidFill>
            <a:srgbClr val="E7F3FF"/>
          </a:solidFill>
          <a:ln>
            <a:solidFill>
              <a:srgbClr val="E7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22376" y="1901952"/>
            <a:ext cx="1252728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23764"/>
                </a:solidFill>
                <a:latin typeface="Aptos"/>
              </a:defRPr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/ Time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048256" y="1828800"/>
            <a:ext cx="1417320" cy="393192"/>
          </a:xfrm>
          <a:prstGeom prst="rect">
            <a:avLst/>
          </a:prstGeom>
          <a:solidFill>
            <a:srgbClr val="E7F3FF"/>
          </a:solidFill>
          <a:ln>
            <a:solidFill>
              <a:srgbClr val="E7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4832" y="1901952"/>
            <a:ext cx="1344168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2376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502152" y="1828800"/>
            <a:ext cx="1600200" cy="393192"/>
          </a:xfrm>
          <a:prstGeom prst="rect">
            <a:avLst/>
          </a:prstGeom>
          <a:solidFill>
            <a:srgbClr val="E7F3FF"/>
          </a:solidFill>
          <a:ln>
            <a:solidFill>
              <a:srgbClr val="E7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8728" y="1901952"/>
            <a:ext cx="1527048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2376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138928" y="1828800"/>
            <a:ext cx="1051560" cy="393192"/>
          </a:xfrm>
          <a:prstGeom prst="rect">
            <a:avLst/>
          </a:prstGeom>
          <a:solidFill>
            <a:srgbClr val="E7F3FF"/>
          </a:solidFill>
          <a:ln>
            <a:solidFill>
              <a:srgbClr val="E7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5504" y="1901952"/>
            <a:ext cx="978407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2376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27064" y="1828800"/>
            <a:ext cx="960120" cy="393192"/>
          </a:xfrm>
          <a:prstGeom prst="rect">
            <a:avLst/>
          </a:prstGeom>
          <a:solidFill>
            <a:srgbClr val="E7F3FF"/>
          </a:solidFill>
          <a:ln>
            <a:solidFill>
              <a:srgbClr val="E7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901952"/>
            <a:ext cx="886968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23764"/>
                </a:solidFill>
                <a:latin typeface="Aptos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85800" y="2267712"/>
            <a:ext cx="1325880" cy="393192"/>
          </a:xfrm>
          <a:prstGeom prst="rect">
            <a:avLst/>
          </a:prstGeom>
          <a:solidFill>
            <a:srgbClr val="E5F8F2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2340864"/>
            <a:ext cx="1271016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 09–10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048256" y="2267712"/>
            <a:ext cx="1417320" cy="393192"/>
          </a:xfrm>
          <a:prstGeom prst="rect">
            <a:avLst/>
          </a:prstGeom>
          <a:solidFill>
            <a:srgbClr val="E5F8F2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75688" y="2340864"/>
            <a:ext cx="1362456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502152" y="2267712"/>
            <a:ext cx="1600200" cy="393192"/>
          </a:xfrm>
          <a:prstGeom prst="rect">
            <a:avLst/>
          </a:prstGeom>
          <a:solidFill>
            <a:srgbClr val="E5F8F2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9584" y="2340864"/>
            <a:ext cx="1545336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Sharma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138928" y="2267712"/>
            <a:ext cx="1051560" cy="393192"/>
          </a:xfrm>
          <a:prstGeom prst="rect">
            <a:avLst/>
          </a:prstGeom>
          <a:solidFill>
            <a:srgbClr val="E5F8F2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75504" y="2340864"/>
            <a:ext cx="996695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R101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227064" y="2267712"/>
            <a:ext cx="960120" cy="393192"/>
          </a:xfrm>
          <a:prstGeom prst="rect">
            <a:avLst/>
          </a:prstGeom>
          <a:solidFill>
            <a:srgbClr val="E5F8F2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2340864"/>
            <a:ext cx="905256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85800" y="2743200"/>
            <a:ext cx="13258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2816352"/>
            <a:ext cx="1271016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 10–11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048256" y="2743200"/>
            <a:ext cx="14173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75688" y="2816352"/>
            <a:ext cx="1362456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502152" y="2743200"/>
            <a:ext cx="16002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9584" y="2816352"/>
            <a:ext cx="1545336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Singh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138928" y="2743200"/>
            <a:ext cx="10515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6360" y="2816352"/>
            <a:ext cx="996695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R102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227064" y="2743200"/>
            <a:ext cx="9601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7064" y="2811780"/>
            <a:ext cx="905256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85800" y="3218688"/>
            <a:ext cx="1325880" cy="393192"/>
          </a:xfrm>
          <a:prstGeom prst="rect">
            <a:avLst/>
          </a:prstGeom>
          <a:solidFill>
            <a:srgbClr val="E5F8F2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3291840"/>
            <a:ext cx="1271016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 11–12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048256" y="3218688"/>
            <a:ext cx="1417320" cy="393192"/>
          </a:xfrm>
          <a:prstGeom prst="rect">
            <a:avLst/>
          </a:prstGeom>
          <a:solidFill>
            <a:srgbClr val="E5F8F2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5688" y="3291840"/>
            <a:ext cx="1362456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502152" y="3218688"/>
            <a:ext cx="1600200" cy="393192"/>
          </a:xfrm>
          <a:prstGeom prst="rect">
            <a:avLst/>
          </a:prstGeom>
          <a:solidFill>
            <a:srgbClr val="E5F8F2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29584" y="3291840"/>
            <a:ext cx="1545336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Verma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138928" y="3218688"/>
            <a:ext cx="1051560" cy="393192"/>
          </a:xfrm>
          <a:prstGeom prst="rect">
            <a:avLst/>
          </a:prstGeom>
          <a:solidFill>
            <a:srgbClr val="E5F8F2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66360" y="3291840"/>
            <a:ext cx="996695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R103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227064" y="3218688"/>
            <a:ext cx="960120" cy="393192"/>
          </a:xfrm>
          <a:prstGeom prst="rect">
            <a:avLst/>
          </a:prstGeom>
          <a:solidFill>
            <a:srgbClr val="E5F8F2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54496" y="3291840"/>
            <a:ext cx="905256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85800" y="3694176"/>
            <a:ext cx="13258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3767328"/>
            <a:ext cx="1271016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Tue 09–10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2048256" y="3694176"/>
            <a:ext cx="14173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75688" y="3767328"/>
            <a:ext cx="1362456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502152" y="3694176"/>
            <a:ext cx="16002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29584" y="3767328"/>
            <a:ext cx="1545336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Gupta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138928" y="3694176"/>
            <a:ext cx="10515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66360" y="3767328"/>
            <a:ext cx="996695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R101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6227064" y="3694176"/>
            <a:ext cx="9601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54496" y="3767328"/>
            <a:ext cx="905256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685800" y="4169664"/>
            <a:ext cx="1325880" cy="393192"/>
          </a:xfrm>
          <a:prstGeom prst="rect">
            <a:avLst/>
          </a:prstGeom>
          <a:solidFill>
            <a:srgbClr val="E5F8F2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3232" y="4242816"/>
            <a:ext cx="1271016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Tue 10–11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048256" y="4169664"/>
            <a:ext cx="1417320" cy="393192"/>
          </a:xfrm>
          <a:prstGeom prst="rect">
            <a:avLst/>
          </a:prstGeom>
          <a:solidFill>
            <a:srgbClr val="E5F8F2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75688" y="4242816"/>
            <a:ext cx="1362456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Tech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3502152" y="4169664"/>
            <a:ext cx="1600200" cy="393192"/>
          </a:xfrm>
          <a:prstGeom prst="rect">
            <a:avLst/>
          </a:prstGeom>
          <a:solidFill>
            <a:srgbClr val="E5F8F2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29584" y="4242816"/>
            <a:ext cx="1545336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Sharma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5138928" y="4169664"/>
            <a:ext cx="1051560" cy="393192"/>
          </a:xfrm>
          <a:prstGeom prst="rect">
            <a:avLst/>
          </a:prstGeom>
          <a:solidFill>
            <a:srgbClr val="E5F8F2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66360" y="4242816"/>
            <a:ext cx="996695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R104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227064" y="4169664"/>
            <a:ext cx="960120" cy="393192"/>
          </a:xfrm>
          <a:prstGeom prst="rect">
            <a:avLst/>
          </a:prstGeom>
          <a:solidFill>
            <a:srgbClr val="E5F8F2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54496" y="4242816"/>
            <a:ext cx="905256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31520" y="4892040"/>
            <a:ext cx="6858000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39155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schedule view • no conflicts in the sample rows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8183879" y="1298448"/>
            <a:ext cx="352044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183879" y="1298448"/>
            <a:ext cx="109728" cy="1024128"/>
          </a:xfrm>
          <a:prstGeom prst="rect">
            <a:avLst/>
          </a:prstGeom>
          <a:solidFill>
            <a:srgbClr val="239155"/>
          </a:solidFill>
          <a:ln>
            <a:solidFill>
              <a:srgbClr val="239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03336" y="1435607"/>
            <a:ext cx="313639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39155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STATUS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403336" y="1819655"/>
            <a:ext cx="3136392" cy="59298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Timetable generated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00"/>
              </a:spcAft>
              <a:defRPr sz="11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Faculty / room / batch checks passed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8183879" y="2542032"/>
            <a:ext cx="352044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183879" y="2542032"/>
            <a:ext cx="109728" cy="1024128"/>
          </a:xfrm>
          <a:prstGeom prst="rect">
            <a:avLst/>
          </a:prstGeom>
          <a:solidFill>
            <a:srgbClr val="6750BE"/>
          </a:solidFill>
          <a:ln>
            <a:solidFill>
              <a:srgbClr val="67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403336" y="2679191"/>
            <a:ext cx="313639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6750BE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LOG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8403336" y="3063239"/>
            <a:ext cx="3136392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slot attempts, validation checks and any backtracking.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8183879" y="3785615"/>
            <a:ext cx="352044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183879" y="3785615"/>
            <a:ext cx="109728" cy="1024128"/>
          </a:xfrm>
          <a:prstGeom prst="rect">
            <a:avLst/>
          </a:prstGeom>
          <a:solidFill>
            <a:srgbClr val="1973D2"/>
          </a:solidFill>
          <a:ln>
            <a:solidFill>
              <a:srgbClr val="19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03336" y="3922776"/>
            <a:ext cx="313639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973D2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BENEFITS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403336" y="4306824"/>
            <a:ext cx="3136392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manual effort • clearer planning • reusable data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58368" y="5742432"/>
            <a:ext cx="10972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23764"/>
                </a:solidFill>
                <a:latin typeface="Aptos"/>
              </a:defRPr>
            </a:pPr>
            <a:r>
              <a:t>For the live demo: enter data → generate timetable → inspect clashes → review decision trace.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292840" y="6537960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576678"/>
                </a:solidFill>
                <a:latin typeface="Aptos"/>
              </a:defRPr>
            </a:pPr>
            <a:r>
              <a:t>6/7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3764"/>
          </a:solidFill>
          <a:ln>
            <a:solidFill>
              <a:srgbClr val="123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-7786"/>
            <a:ext cx="11247120" cy="66479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 Future Vision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832104"/>
            <a:ext cx="1115568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576678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 working prototype to a scalable campus scheduling tool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3035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109728" cy="1188720"/>
          </a:xfrm>
          <a:prstGeom prst="rect">
            <a:avLst/>
          </a:prstGeom>
          <a:solidFill>
            <a:srgbClr val="1973D2"/>
          </a:solidFill>
          <a:ln>
            <a:solidFill>
              <a:srgbClr val="19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463039"/>
            <a:ext cx="491947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973D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TARGET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3816" y="1847088"/>
            <a:ext cx="4919472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valid timetable and explain the decisions made by the scheduling engine.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3035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109728" cy="1188720"/>
          </a:xfrm>
          <a:prstGeom prst="rect">
            <a:avLst/>
          </a:prstGeom>
          <a:solidFill>
            <a:srgbClr val="6750BE"/>
          </a:solidFill>
          <a:ln>
            <a:solidFill>
              <a:srgbClr val="67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463039"/>
            <a:ext cx="491947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6750BE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IMPROVEMENTS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37376" y="1847088"/>
            <a:ext cx="4919472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preferences, room capacity, lab blocks, workload balancing and priority weights.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2788920"/>
            <a:ext cx="53035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788920"/>
            <a:ext cx="109728" cy="118872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2926079"/>
            <a:ext cx="491947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009688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3816" y="3310127"/>
            <a:ext cx="4919472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3304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more departments, semesters, campuses and saved timetable versions.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2788920"/>
            <a:ext cx="53035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788920"/>
            <a:ext cx="109728" cy="1188720"/>
          </a:xfrm>
          <a:prstGeom prst="rect">
            <a:avLst/>
          </a:prstGeom>
          <a:solidFill>
            <a:srgbClr val="F08923"/>
          </a:solidFill>
          <a:ln>
            <a:solidFill>
              <a:srgbClr val="F08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2926079"/>
            <a:ext cx="4919472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08923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OPTIMIZATION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37376" y="3310127"/>
            <a:ext cx="4919472" cy="52629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33041"/>
                </a:solidFill>
                <a:latin typeface="Aptos"/>
              </a:defRPr>
            </a:pPr>
            <a:r>
              <a:rPr dirty="0"/>
              <a:t>Compare Greedy-only results with Backtracking search; later add local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dirty="0"/>
              <a:t> or genetic algorithms.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594360" y="4389120"/>
            <a:ext cx="10927080" cy="1097280"/>
          </a:xfrm>
          <a:prstGeom prst="roundRect">
            <a:avLst>
              <a:gd name="adj" fmla="val 12000"/>
            </a:avLst>
          </a:prstGeom>
          <a:solidFill>
            <a:srgbClr val="123764"/>
          </a:solidFill>
          <a:ln>
            <a:solidFill>
              <a:srgbClr val="123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99432"/>
            <a:ext cx="10378440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96D2FF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TAKEAWAY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4400" y="4956048"/>
            <a:ext cx="10287000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DAA algorithms + a simple web interface = transparent, practical timetable generation.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" y="5742432"/>
            <a:ext cx="10972800" cy="72635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123764"/>
                </a:solidFill>
                <a:latin typeface="Aptos"/>
              </a:defRPr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292840" y="6537960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576678"/>
                </a:solidFill>
                <a:latin typeface="Aptos"/>
              </a:defRPr>
            </a:pPr>
            <a: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5150</Words>
  <Application>WPS Presentation</Application>
  <PresentationFormat>Widescreen</PresentationFormat>
  <Paragraphs>353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Arial</vt:lpstr>
      <vt:lpstr>Aptos</vt:lpstr>
      <vt:lpstr>Segoe UI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Sirigiri shiridi</dc:creator>
  <dc:description>generated using python-pptx</dc:description>
  <cp:lastModifiedBy>Sahithi G</cp:lastModifiedBy>
  <cp:revision>3</cp:revision>
  <dcterms:created xsi:type="dcterms:W3CDTF">2013-01-27T09:14:00Z</dcterms:created>
  <dcterms:modified xsi:type="dcterms:W3CDTF">2026-10-03T08:46:49Z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B937420AFCCE400BA2CBFEE85C23BA50_12</vt:lpwstr>
  </property>
</Properties>
</file>